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5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0" r:id="rId19"/>
    <p:sldId id="273" r:id="rId20"/>
    <p:sldId id="274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0980" autoAdjust="0"/>
  </p:normalViewPr>
  <p:slideViewPr>
    <p:cSldViewPr snapToGrid="0" snapToObjects="1">
      <p:cViewPr varScale="1">
        <p:scale>
          <a:sx n="99" d="100"/>
          <a:sy n="99" d="100"/>
        </p:scale>
        <p:origin x="101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chu arjun" userId="fd1d06d94ff21d47" providerId="LiveId" clId="{1A95E86A-F1F2-47D7-8CD7-93BD4D9BF5FE}"/>
    <pc:docChg chg="modSld">
      <pc:chgData name="achu arjun" userId="fd1d06d94ff21d47" providerId="LiveId" clId="{1A95E86A-F1F2-47D7-8CD7-93BD4D9BF5FE}" dt="2026-07-07T12:44:25.491" v="0" actId="1036"/>
      <pc:docMkLst>
        <pc:docMk/>
      </pc:docMkLst>
      <pc:sldChg chg="modSp mod">
        <pc:chgData name="achu arjun" userId="fd1d06d94ff21d47" providerId="LiveId" clId="{1A95E86A-F1F2-47D7-8CD7-93BD4D9BF5FE}" dt="2026-07-07T12:44:25.491" v="0" actId="1036"/>
        <pc:sldMkLst>
          <pc:docMk/>
          <pc:sldMk cId="0" sldId="272"/>
        </pc:sldMkLst>
        <pc:picChg chg="mod">
          <ac:chgData name="achu arjun" userId="fd1d06d94ff21d47" providerId="LiveId" clId="{1A95E86A-F1F2-47D7-8CD7-93BD4D9BF5FE}" dt="2026-07-07T12:44:25.491" v="0" actId="1036"/>
          <ac:picMkLst>
            <pc:docMk/>
            <pc:sldMk cId="0" sldId="272"/>
            <ac:picMk id="49" creationId="{FFEEBFAD-5558-85A8-2145-C0DE5BBA565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7184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b="1" dirty="0"/>
          </a:p>
          <a:p>
            <a:endParaRPr lang="en-US" b="1" dirty="0"/>
          </a:p>
          <a:p>
            <a:r>
              <a:rPr lang="en-US" b="1" dirty="0" err="1"/>
              <a:t>sensorPitch</a:t>
            </a:r>
            <a:r>
              <a:rPr lang="en-US" b="1" dirty="0"/>
              <a:t> convergence (200 iterations)</a:t>
            </a:r>
          </a:p>
          <a:p>
            <a:r>
              <a:rPr lang="en-US" b="1" dirty="0"/>
              <a:t>Setup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COMP_FILTER (α) = 0.02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 board tilt = 5.0°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fgy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≈ 0  (board not rotating)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accelPitch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≈ 5.0°  (constant — board not moving)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dt = 0.02s  (constant — 50Hz loop) =&gt; 1/50 =&gt; 0.02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sensorPitch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(0) = 0.0°  (C++ global default)</a:t>
            </a:r>
          </a:p>
          <a:p>
            <a:r>
              <a:rPr lang="en-US" b="1" dirty="0"/>
              <a:t>The recurrence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sensorPitch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(n) =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sensorPitch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(n-1) or just np × 0.98 + 5.0 × 0.02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This is a </a:t>
            </a:r>
            <a:r>
              <a:rPr lang="en-US" b="1" dirty="0"/>
              <a:t>standard exponential decay </a:t>
            </a:r>
            <a:r>
              <a:rPr lang="en-US" dirty="0"/>
              <a:t>toward a target, with closed form: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sensorPitch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(n) = 5.0 × (1 - 0.98^n)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65.5</a:t>
            </a:r>
            <a:r>
              <a:rPr lang="en-US" dirty="0"/>
              <a:t> is the MPU6050's hardware conversion factor for the ±500°/s range — "65.5 raw units = 1°/s." Dividing by it turns the sensor's meaningless integer output into a real angular velocity in degrees per second, which is the unit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fgy</a:t>
            </a:r>
            <a:r>
              <a:rPr lang="en-US" dirty="0"/>
              <a:t> needs to be in before it can be multiplied by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dt</a:t>
            </a:r>
            <a:r>
              <a:rPr lang="en-US" dirty="0"/>
              <a:t> to get an angle change.</a:t>
            </a:r>
          </a:p>
        </p:txBody>
      </p:sp>
    </p:spTree>
    <p:extLst>
      <p:ext uri="{BB962C8B-B14F-4D97-AF65-F5344CB8AC3E}">
        <p14:creationId xmlns:p14="http://schemas.microsoft.com/office/powerpoint/2010/main" val="3732733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Convergence table — milestones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Iterations (n)    Time elapsed     0.98ⁿ      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sensorPitch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error from 5°    %converged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                                0 s              1.0000          0.0000°             5.0000°               0%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                               0.2s             0.8171         0.9146°             4.0854°              18.3%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                             2s                0.1326         4.3372°             0.6628°              86.7%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                             4s                0.0176         4.9118°              0.0882°             98.2%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PID formulae:</a:t>
            </a:r>
          </a:p>
          <a:p>
            <a:r>
              <a:rPr lang="en-US" dirty="0"/>
              <a:t>error     = reference - </a:t>
            </a:r>
            <a:r>
              <a:rPr lang="en-US" dirty="0" err="1"/>
              <a:t>current_angle</a:t>
            </a:r>
            <a:endParaRPr lang="en-US" dirty="0"/>
          </a:p>
          <a:p>
            <a:r>
              <a:rPr lang="en-US" dirty="0"/>
              <a:t>integral  = integral + error × dt</a:t>
            </a:r>
          </a:p>
          <a:p>
            <a:r>
              <a:rPr lang="en-US" dirty="0"/>
              <a:t>derivative = (angle - </a:t>
            </a:r>
            <a:r>
              <a:rPr lang="en-US" dirty="0" err="1"/>
              <a:t>prevMeasurement</a:t>
            </a:r>
            <a:r>
              <a:rPr lang="en-US" dirty="0"/>
              <a:t>) / dt</a:t>
            </a:r>
          </a:p>
          <a:p>
            <a:r>
              <a:rPr lang="en-US" dirty="0"/>
              <a:t>output    = </a:t>
            </a:r>
            <a:r>
              <a:rPr lang="en-US" dirty="0" err="1"/>
              <a:t>Kp×error</a:t>
            </a:r>
            <a:r>
              <a:rPr lang="en-US" dirty="0"/>
              <a:t> + </a:t>
            </a:r>
            <a:r>
              <a:rPr lang="en-US" dirty="0" err="1"/>
              <a:t>Ki×integral</a:t>
            </a:r>
            <a:r>
              <a:rPr lang="en-US" dirty="0"/>
              <a:t>  -  </a:t>
            </a:r>
            <a:r>
              <a:rPr lang="en-US" dirty="0" err="1"/>
              <a:t>Kd×derivative</a:t>
            </a:r>
            <a:endParaRPr lang="en-US" dirty="0"/>
          </a:p>
          <a:p>
            <a:r>
              <a:rPr lang="en-US" dirty="0"/>
              <a:t>=========================================</a:t>
            </a:r>
          </a:p>
          <a:p>
            <a:r>
              <a:rPr lang="en-US" b="1" dirty="0"/>
              <a:t>The without-reset case — why the spike happens</a:t>
            </a:r>
          </a:p>
          <a:p>
            <a:r>
              <a:rPr lang="en-US" dirty="0"/>
              <a:t>During the manual phase (before autopilot engages), the pilot is flying at angle = 0° but the reference is 12°. Even though PID is not controlling the servo, I'm still accumulating the integral in the simulation as if PID was watching:</a:t>
            </a:r>
          </a:p>
          <a:p>
            <a:r>
              <a:rPr lang="en-US" dirty="0"/>
              <a:t>error    = 12 - 0 = 12° every tick</a:t>
            </a:r>
          </a:p>
          <a:p>
            <a:r>
              <a:rPr lang="en-US" dirty="0"/>
              <a:t>integral += 12 × 0.02 = 0.24 each tick</a:t>
            </a:r>
          </a:p>
          <a:p>
            <a:r>
              <a:rPr lang="en-US" dirty="0"/>
              <a:t>after 10 ticks: integral ≈ 2.4</a:t>
            </a:r>
          </a:p>
          <a:p>
            <a:r>
              <a:rPr lang="en-US" dirty="0"/>
              <a:t>=========================================</a:t>
            </a:r>
          </a:p>
          <a:p>
            <a:r>
              <a:rPr lang="en-US" dirty="0"/>
              <a:t>void </a:t>
            </a:r>
            <a:r>
              <a:rPr lang="en-US" dirty="0" err="1"/>
              <a:t>resetPID</a:t>
            </a:r>
            <a:r>
              <a:rPr lang="en-US" dirty="0"/>
              <a:t>(PID&amp; </a:t>
            </a:r>
            <a:r>
              <a:rPr lang="en-US" dirty="0" err="1"/>
              <a:t>pid</a:t>
            </a:r>
            <a:r>
              <a:rPr lang="en-US" dirty="0"/>
              <a:t>, float </a:t>
            </a:r>
            <a:r>
              <a:rPr lang="en-US" dirty="0" err="1"/>
              <a:t>initMeas</a:t>
            </a:r>
            <a:r>
              <a:rPr lang="en-US" dirty="0"/>
              <a:t>) {</a:t>
            </a:r>
          </a:p>
          <a:p>
            <a:pPr lvl="1"/>
            <a:r>
              <a:rPr lang="en-US" dirty="0" err="1"/>
              <a:t>pid.integral</a:t>
            </a:r>
            <a:r>
              <a:rPr lang="en-US" dirty="0"/>
              <a:t>        = 0.0f;       // wipes accumulated error</a:t>
            </a:r>
          </a:p>
          <a:p>
            <a:pPr lvl="1"/>
            <a:r>
              <a:rPr lang="en-US" dirty="0" err="1"/>
              <a:t>pid.prevMeasurement</a:t>
            </a:r>
            <a:r>
              <a:rPr lang="en-US" dirty="0"/>
              <a:t> = </a:t>
            </a:r>
            <a:r>
              <a:rPr lang="en-US" dirty="0" err="1"/>
              <a:t>initMeas</a:t>
            </a:r>
            <a:r>
              <a:rPr lang="en-US" dirty="0"/>
              <a:t>;   // sets reference point to current angle</a:t>
            </a:r>
          </a:p>
          <a:p>
            <a:pPr lvl="1"/>
            <a:r>
              <a:rPr lang="en-US" dirty="0" err="1"/>
              <a:t>pid.lastTime</a:t>
            </a:r>
            <a:r>
              <a:rPr lang="en-US" dirty="0"/>
              <a:t>        = </a:t>
            </a:r>
            <a:r>
              <a:rPr lang="en-US" dirty="0" err="1"/>
              <a:t>millis</a:t>
            </a:r>
            <a:r>
              <a:rPr lang="en-US" dirty="0"/>
              <a:t>();   // resets dt</a:t>
            </a:r>
          </a:p>
          <a:p>
            <a:pPr lvl="1"/>
            <a:r>
              <a:rPr lang="en-US" dirty="0" err="1"/>
              <a:t>pid.justReset</a:t>
            </a:r>
            <a:r>
              <a:rPr lang="en-US" dirty="0"/>
              <a:t>       = true;       // skips </a:t>
            </a:r>
            <a:r>
              <a:rPr lang="en-US" dirty="0" err="1"/>
              <a:t>bumpless</a:t>
            </a:r>
            <a:r>
              <a:rPr lang="en-US" dirty="0"/>
              <a:t> transfer on first tick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=========================================</a:t>
            </a:r>
          </a:p>
          <a:p>
            <a:r>
              <a:rPr lang="en-US" dirty="0"/>
              <a:t>So at the moment autopilot engages:</a:t>
            </a:r>
          </a:p>
          <a:p>
            <a:r>
              <a:rPr lang="en-US" dirty="0"/>
              <a:t>integral = 0    ← no history, clean start</a:t>
            </a:r>
          </a:p>
          <a:p>
            <a:r>
              <a:rPr lang="en-US" dirty="0" err="1"/>
              <a:t>prevMeasurement</a:t>
            </a:r>
            <a:r>
              <a:rPr lang="en-US" dirty="0"/>
              <a:t> = 8°  ← current actual angle</a:t>
            </a:r>
          </a:p>
          <a:p>
            <a:endParaRPr lang="en-US" dirty="0"/>
          </a:p>
          <a:p>
            <a:r>
              <a:rPr lang="en-US" dirty="0"/>
              <a:t>First PID output:</a:t>
            </a:r>
          </a:p>
          <a:p>
            <a:r>
              <a:rPr lang="en-US" dirty="0"/>
              <a:t>error      = 12 - 8 = 4°          (small, real error)</a:t>
            </a:r>
          </a:p>
          <a:p>
            <a:r>
              <a:rPr lang="en-US" dirty="0"/>
              <a:t>integral   = 0 + 4 × 0.02 = 0.08  (tiny, just started)</a:t>
            </a:r>
          </a:p>
          <a:p>
            <a:r>
              <a:rPr lang="en-US" dirty="0"/>
              <a:t>derivative = (8 - 8) / 0.02 = 0   (no change since last tick)</a:t>
            </a:r>
          </a:p>
          <a:p>
            <a:r>
              <a:rPr lang="en-US" dirty="0"/>
              <a:t>output     = 1.2×4 + 0.3×0.08 - 0</a:t>
            </a:r>
          </a:p>
          <a:p>
            <a:r>
              <a:rPr lang="en-US" dirty="0"/>
              <a:t>           = 4.8 + 0.024</a:t>
            </a:r>
          </a:p>
          <a:p>
            <a:r>
              <a:rPr lang="en-US" dirty="0"/>
              <a:t>           = 4.824   ← small, proportional to actual error only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748249"/>
            <a:ext cx="7419914" cy="873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Real-Time Flight Stabilization System for Fixed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Wing RC Aircraft Using ESP32 and MPU6050 with </a:t>
            </a:r>
          </a:p>
          <a:p>
            <a:pPr marL="0" indent="0">
              <a:buNone/>
            </a:pPr>
            <a:r>
              <a:rPr lang="en-US" sz="2000" b="1" dirty="0" err="1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WiFi</a:t>
            </a:r>
            <a:r>
              <a:rPr lang="en-US" sz="2000" b="1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based Wireless Ground Control Station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960509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  ·  WiFi Ground Control Station  ·  GCS Helper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 flipV="1">
            <a:off x="658368" y="2468880"/>
            <a:ext cx="5123000" cy="45720"/>
          </a:xfrm>
          <a:prstGeom prst="line">
            <a:avLst/>
          </a:prstGeom>
          <a:noFill/>
          <a:ln w="12700">
            <a:solidFill>
              <a:srgbClr val="2A3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15767"/>
            <a:ext cx="6858000" cy="1295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Arjun </a:t>
            </a:r>
            <a:r>
              <a:rPr lang="en-US" sz="1300" b="1" dirty="0" err="1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Veeramony</a:t>
            </a:r>
            <a:r>
              <a:rPr lang="en-US" sz="13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(7219119)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M.Sc. Embedded Systems Engineering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FD8DC"/>
                </a:solidFill>
                <a:latin typeface="Arial" pitchFamily="34" charset="0"/>
                <a:cs typeface="Arial" pitchFamily="34" charset="-120"/>
              </a:rPr>
              <a:t>Project Thesis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 Dortmund - University of Applied Sciences and Arts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Supervisor: Prof. Dr. Björn Schäfer</a:t>
            </a:r>
            <a:endParaRPr lang="en-US" sz="1300" dirty="0"/>
          </a:p>
        </p:txBody>
      </p:sp>
      <p:pic>
        <p:nvPicPr>
          <p:cNvPr id="10" name="Picture 9" descr="a cartoon airplane flying on a transparent background png">
            <a:extLst>
              <a:ext uri="{FF2B5EF4-FFF2-40B4-BE49-F238E27FC236}">
                <a16:creationId xmlns:a16="http://schemas.microsoft.com/office/drawing/2014/main" id="{3D78B973-B87D-79F9-68EF-C833FA650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368" y="2137044"/>
            <a:ext cx="3158422" cy="20529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Plane Actually Flies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43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Wings generate lift as air flows over them. The aircraft is steered by deflecting three control surfaces, each rotating the plane around one of its three axes: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529408"/>
            <a:ext cx="2679192" cy="2331720"/>
          </a:xfrm>
          <a:prstGeom prst="roundRect">
            <a:avLst>
              <a:gd name="adj" fmla="val 2353"/>
            </a:avLst>
          </a:prstGeom>
          <a:solidFill>
            <a:srgbClr val="151923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122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PITCH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21237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Elevator (tail)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89528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Nose up / down - rotation around the </a:t>
            </a:r>
            <a:r>
              <a:rPr lang="en-US" sz="1150" b="1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axis</a:t>
            </a:r>
            <a:r>
              <a:rPr lang="en-US" sz="11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Controls climb and descent.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9272" y="1529408"/>
            <a:ext cx="2679192" cy="2331720"/>
          </a:xfrm>
          <a:prstGeom prst="roundRect">
            <a:avLst>
              <a:gd name="adj" fmla="val 2353"/>
            </a:avLst>
          </a:prstGeom>
          <a:solidFill>
            <a:srgbClr val="151923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17122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502152" y="21237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Ailerons (wings)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02152" y="2489528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Wing tilt left / right — rotation around the </a:t>
            </a:r>
            <a:r>
              <a:rPr lang="en-US" sz="1150" b="1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longitudinal axis</a:t>
            </a:r>
            <a:r>
              <a:rPr lang="en-US" sz="11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Banks the aircraft into turns.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81344" y="1529408"/>
            <a:ext cx="2679192" cy="2331720"/>
          </a:xfrm>
          <a:prstGeom prst="roundRect">
            <a:avLst>
              <a:gd name="adj" fmla="val 2353"/>
            </a:avLst>
          </a:prstGeom>
          <a:solidFill>
            <a:srgbClr val="151923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4224" y="17122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9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YAW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364224" y="21237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Rudder (tail fin)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64224" y="2489528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Nose left / right — rotation around the </a:t>
            </a:r>
            <a:r>
              <a:rPr lang="en-US" sz="1150" b="1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axis</a:t>
            </a:r>
            <a:r>
              <a:rPr lang="en-US" sz="11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Coordinates turns.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089728"/>
            <a:ext cx="8284464" cy="658368"/>
          </a:xfrm>
          <a:prstGeom prst="roundRect">
            <a:avLst>
              <a:gd name="adj" fmla="val 8333"/>
            </a:avLst>
          </a:prstGeom>
          <a:solidFill>
            <a:srgbClr val="1C212E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08972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flight = </a:t>
            </a:r>
            <a:r>
              <a:rPr lang="en-US" sz="13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holding the desired pitch and roll attitude</a:t>
            </a:r>
            <a:r>
              <a:rPr lang="en-US" sz="13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against every disturbance.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Need for a Flight Stabilization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96696"/>
            <a:ext cx="8284464" cy="841248"/>
          </a:xfrm>
          <a:prstGeom prst="roundRect">
            <a:avLst>
              <a:gd name="adj" fmla="val 6522"/>
            </a:avLst>
          </a:prstGeom>
          <a:solidFill>
            <a:srgbClr val="151923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280160"/>
            <a:ext cx="274320" cy="27432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08813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Inherent instability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88720" y="1380744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fixed-wing aircraft never stays put - every gust, thermal and turbulence pocket constantly pushes it off attitude.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84464" cy="841248"/>
          </a:xfrm>
          <a:prstGeom prst="roundRect">
            <a:avLst>
              <a:gd name="adj" fmla="val 6522"/>
            </a:avLst>
          </a:prstGeom>
          <a:solidFill>
            <a:srgbClr val="151923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249424"/>
            <a:ext cx="274320" cy="274320"/>
          </a:xfrm>
          <a:prstGeom prst="ellipse">
            <a:avLst/>
          </a:prstGeom>
          <a:solidFill>
            <a:srgbClr val="FF9100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05740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is unpredictable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88720" y="235000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Crosswinds and gusts arrive faster than a human can react. Corrections must happen many times per second, continuously.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935224"/>
            <a:ext cx="8284464" cy="841248"/>
          </a:xfrm>
          <a:prstGeom prst="roundRect">
            <a:avLst>
              <a:gd name="adj" fmla="val 6522"/>
            </a:avLst>
          </a:prstGeom>
          <a:solidFill>
            <a:srgbClr val="151923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3218688"/>
            <a:ext cx="274320" cy="274320"/>
          </a:xfrm>
          <a:prstGeom prst="ellipse">
            <a:avLst/>
          </a:prstGeom>
          <a:solidFill>
            <a:srgbClr val="FFD740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02666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workload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88720" y="3319272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Hobby pilots must manage throttle, attitude and navigation simultaneously - a single lapse in attention may end in crash.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904488"/>
            <a:ext cx="8284464" cy="841248"/>
          </a:xfrm>
          <a:prstGeom prst="roundRect">
            <a:avLst>
              <a:gd name="adj" fmla="val 6522"/>
            </a:avLst>
          </a:prstGeom>
          <a:solidFill>
            <a:srgbClr val="151923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4187952"/>
            <a:ext cx="274320" cy="274320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99592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aircraft suffer most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88720" y="4288536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foam RC planes have low inertia: disturbances that an airliner ignores will flip a model aircraft instantly.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Stabilization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stabilizer is an electronic co-pilot: it senses the aircraft's attitude and automatically commands the control surfaces to hold it level — faster and more consistently than any human.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1C212E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97510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7512" y="2340864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 measures pitch, roll &amp; yaw rates 50× per second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90088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8909C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29000" y="182880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1C212E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197510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93592" y="2340864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law compares attitude to the desired reference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16168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8909C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355080" y="182880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1C212E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197510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19672" y="2340864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Servos deflect </a:t>
            </a:r>
            <a:r>
              <a:rPr lang="en-US" sz="1100" b="1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elevator &amp; ailerons </a:t>
            </a:r>
            <a:r>
              <a:rPr lang="en-US" sz="11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cancel the error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…and the loop repeats every 20 ms (50 Hz), for the entire flight.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7947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Rejects gusts and turbulence the moment they occur - before the pilot even notices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Lets the pilot focus on navigation while the system keeps the aircraft level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as a safety net: release the sticks and the aircraft returns to stable flight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Solutions: Gyro vs. Flight Controller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95227"/>
            <a:ext cx="4023360" cy="3840480"/>
          </a:xfrm>
          <a:prstGeom prst="roundRect">
            <a:avLst>
              <a:gd name="adj" fmla="val 1429"/>
            </a:avLst>
          </a:prstGeom>
          <a:solidFill>
            <a:srgbClr val="151923"/>
          </a:solidFill>
          <a:ln w="12700">
            <a:solidFill>
              <a:srgbClr val="2A3040"/>
            </a:solidFill>
            <a:prstDash val="solid"/>
          </a:ln>
        </p:spPr>
      </p:sp>
      <p:pic>
        <p:nvPicPr>
          <p:cNvPr id="5" name="Image 0" descr="figs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59819"/>
            <a:ext cx="1554480" cy="1554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23160" y="1196979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Hobby Gyro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423160" y="1517019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HobbyEagle A3 V2 · ~40–50 €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13232" y="2751459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rate damping — easy to set up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Gains tuned with a tiny physical screw/pot on the case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wireless access, no telemetry, no live feedback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Re-tuning means landing, walking over, and turning a screwdriver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895227"/>
            <a:ext cx="4023360" cy="3840480"/>
          </a:xfrm>
          <a:prstGeom prst="roundRect">
            <a:avLst>
              <a:gd name="adj" fmla="val 1429"/>
            </a:avLst>
          </a:prstGeom>
          <a:solidFill>
            <a:srgbClr val="151923"/>
          </a:solidFill>
          <a:ln w="12700">
            <a:solidFill>
              <a:srgbClr val="2A3040"/>
            </a:solidFill>
            <a:prstDash val="solid"/>
          </a:ln>
        </p:spPr>
      </p:sp>
      <p:pic>
        <p:nvPicPr>
          <p:cNvPr id="10" name="Image 1" descr="figs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059819"/>
            <a:ext cx="1554480" cy="1554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29400" y="1196979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Controller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629400" y="1517019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Pixhawk 2.4.8 · 100 €+ incl. GPS etc.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919472" y="2751459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autopilot: GPS waypoints, missions, RTL, telemetry, Auto takeoff/landings…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Wireless tuning via ground stations (Mission Planner)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Steep learning curve, complex setup &amp; calibration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Costly and overkill if you only want stable, level flight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System: The Middle Ground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79192" cy="1325880"/>
          </a:xfrm>
          <a:prstGeom prst="roundRect">
            <a:avLst>
              <a:gd name="adj" fmla="val 4138"/>
            </a:avLst>
          </a:prstGeom>
          <a:solidFill>
            <a:srgbClr val="1C212E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80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F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HOBBY GYRO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2763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cheap, but blind: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screwdriver tuning only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19272" y="1143000"/>
            <a:ext cx="2679192" cy="1325880"/>
          </a:xfrm>
          <a:prstGeom prst="roundRect">
            <a:avLst>
              <a:gd name="adj" fmla="val 4138"/>
            </a:avLst>
          </a:prstGeom>
          <a:solidFill>
            <a:srgbClr val="0E7FAE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6432" y="1280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56432" y="162763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stabilizer with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wireless live tuning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81344" y="1143000"/>
            <a:ext cx="2679192" cy="1325880"/>
          </a:xfrm>
          <a:prstGeom prst="roundRect">
            <a:avLst>
              <a:gd name="adj" fmla="val 4138"/>
            </a:avLst>
          </a:prstGeom>
          <a:solidFill>
            <a:srgbClr val="1C212E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18504" y="1280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FD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 CONTROLLER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18504" y="162763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powerful, but costly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overkill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542032"/>
            <a:ext cx="8284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 capability &amp; cost 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0632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Wireless gain tuning from a laptop — change PID &amp; filter values mid-session over WiFi, no screwdriver, no reflashing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telemetry: real-time attitude HUD, RC stick monitor and diagnostics streamed over TCP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fraction of the cost — built on a ~5 € ESP32 and a ~3 € MPU6050 IMU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focused: attitude stabilization done well, without the complexity of a full autopilot stack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 - Basic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73971"/>
            <a:ext cx="2377440" cy="1463040"/>
          </a:xfrm>
          <a:prstGeom prst="roundRect">
            <a:avLst>
              <a:gd name="adj" fmla="val 3750"/>
            </a:avLst>
          </a:prstGeom>
          <a:solidFill>
            <a:srgbClr val="1C212E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38563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 Receiver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740899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PWM channels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sticks + autopilot switch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173971"/>
            <a:ext cx="2377440" cy="1463040"/>
          </a:xfrm>
          <a:prstGeom prst="roundRect">
            <a:avLst>
              <a:gd name="adj" fmla="val 3750"/>
            </a:avLst>
          </a:prstGeom>
          <a:solidFill>
            <a:srgbClr val="0E7FAE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338563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Controller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29000" y="1740899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+ MPU6050 IMU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· PID · 50 Hz loop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173971"/>
            <a:ext cx="2377440" cy="1463040"/>
          </a:xfrm>
          <a:prstGeom prst="roundRect">
            <a:avLst>
              <a:gd name="adj" fmla="val 3750"/>
            </a:avLst>
          </a:prstGeom>
          <a:solidFill>
            <a:srgbClr val="1C212E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338563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Actuators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740899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&amp; roll servos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elevator + ailerons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98648" y="1676891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8FF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824728" y="1676891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8FF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468880" y="2710163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commands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94960" y="2710163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PWM 45°–135°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048491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151923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048491"/>
            <a:ext cx="7726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modes:  </a:t>
            </a:r>
            <a:r>
              <a:rPr lang="en-US" sz="1250" b="1" dirty="0">
                <a:solidFill>
                  <a:srgbClr val="FF9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r>
              <a:rPr lang="en-US" sz="12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sticks drive the servos directly.   </a:t>
            </a:r>
            <a:r>
              <a:rPr lang="en-US" sz="125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STABILIZE</a:t>
            </a:r>
            <a:r>
              <a:rPr lang="en-US" sz="12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 switch on CH4 engages the stabilizer: the ESP32 holds the reference attitude via PID, while stick input still overrides per axis.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 - Three Components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926080" y="1051560"/>
            <a:ext cx="3291840" cy="1417320"/>
          </a:xfrm>
          <a:prstGeom prst="roundRect">
            <a:avLst>
              <a:gd name="adj" fmla="val 3871"/>
            </a:avLst>
          </a:prstGeom>
          <a:solidFill>
            <a:srgbClr val="0E7FAE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6324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FIRMWARE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35808" y="1536192"/>
            <a:ext cx="30723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on ESP32 (main.cpp)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fusion · PID · RC input ·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server · EEPROM config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3108960"/>
            <a:ext cx="3749040" cy="1600200"/>
          </a:xfrm>
          <a:prstGeom prst="roundRect">
            <a:avLst>
              <a:gd name="adj" fmla="val 3429"/>
            </a:avLst>
          </a:prstGeom>
          <a:solidFill>
            <a:srgbClr val="151923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278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 GCS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58444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Tkinter + pygame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tuning of filters &amp; PID · attitude HUD ·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 monitor · diagnostics — all over WiFi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37760" y="3108960"/>
            <a:ext cx="3749040" cy="1600200"/>
          </a:xfrm>
          <a:prstGeom prst="roundRect">
            <a:avLst>
              <a:gd name="adj" fmla="val 3429"/>
            </a:avLst>
          </a:prstGeom>
          <a:solidFill>
            <a:srgbClr val="151923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32278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9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GCS HELPER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358444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USB toolbox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monitor for boot logs &amp; WiFi setup ·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.bin firmware flashing via esptool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 flipV="1">
            <a:off x="2063619" y="2331717"/>
            <a:ext cx="752733" cy="502922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  <a:headEnd type="arrow"/>
            <a:tailEnd type="arrow"/>
          </a:ln>
        </p:spPr>
      </p:sp>
      <p:sp>
        <p:nvSpPr>
          <p:cNvPr id="14" name="Shape 12"/>
          <p:cNvSpPr/>
          <p:nvPr/>
        </p:nvSpPr>
        <p:spPr>
          <a:xfrm flipH="1" flipV="1">
            <a:off x="6267494" y="2331716"/>
            <a:ext cx="752734" cy="540382"/>
          </a:xfrm>
          <a:prstGeom prst="line">
            <a:avLst/>
          </a:prstGeom>
          <a:noFill/>
          <a:ln w="19050">
            <a:solidFill>
              <a:srgbClr val="FF9100"/>
            </a:solidFill>
            <a:prstDash val="solid"/>
            <a:headEnd type="arrow"/>
            <a:tailEnd type="arrow"/>
          </a:ln>
        </p:spPr>
      </p:sp>
      <p:sp>
        <p:nvSpPr>
          <p:cNvPr id="15" name="Text 13"/>
          <p:cNvSpPr/>
          <p:nvPr/>
        </p:nvSpPr>
        <p:spPr>
          <a:xfrm>
            <a:off x="1347708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WiFi · TCP port 12345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859536" y="2872101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9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· serial 115200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flight: wireless tuning &amp; telemetry                                                           On the bench: flashing &amp; configuration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Firmware: Pre-Flight Setup (Boot Sequence)</a:t>
            </a:r>
            <a:endParaRPr lang="en-US" sz="2600" dirty="0"/>
          </a:p>
        </p:txBody>
      </p:sp>
      <p:pic>
        <p:nvPicPr>
          <p:cNvPr id="4" name="Image 0" descr="figs/boo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64704"/>
            <a:ext cx="2743200" cy="301409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064704"/>
            <a:ext cx="2743200" cy="3014091"/>
          </a:xfrm>
          <a:prstGeom prst="rect">
            <a:avLst/>
          </a:prstGeom>
          <a:solidFill>
            <a:srgbClr val="0D0F14">
              <a:alpha val="0"/>
            </a:srgbClr>
          </a:solidFill>
          <a:ln w="12700">
            <a:solidFill>
              <a:srgbClr val="2A3040"/>
            </a:solidFill>
            <a:prstDash val="solid"/>
          </a:ln>
        </p:spPr>
      </p:sp>
      <p:pic>
        <p:nvPicPr>
          <p:cNvPr id="6" name="Image 1" descr="figs/boot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064704"/>
            <a:ext cx="2743200" cy="336384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246120" y="1064704"/>
            <a:ext cx="2743200" cy="3363849"/>
          </a:xfrm>
          <a:prstGeom prst="rect">
            <a:avLst/>
          </a:prstGeom>
          <a:solidFill>
            <a:srgbClr val="0D0F14">
              <a:alpha val="0"/>
            </a:srgbClr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172200" y="1108654"/>
            <a:ext cx="2743200" cy="358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Serial Connection, creates mutex, initializes EEPROM and I2C</a:t>
            </a:r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</a:t>
            </a:r>
            <a:r>
              <a:rPr lang="en-US" sz="1050" dirty="0" err="1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</a:t>
            </a: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cred and other tunable param from EEPROM</a:t>
            </a:r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10s wait lets </a:t>
            </a:r>
            <a:r>
              <a:rPr lang="en-US" sz="1050" dirty="0" err="1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</a:t>
            </a: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cred be changed via serial comm without </a:t>
            </a:r>
            <a:r>
              <a:rPr lang="en-US" sz="1050" dirty="0" err="1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reflashing</a:t>
            </a: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 and calibrate MPU6050.</a:t>
            </a:r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warmup.</a:t>
            </a:r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and lock in the reference attitude</a:t>
            </a:r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RC inputs and attach ISRs to </a:t>
            </a:r>
            <a:r>
              <a:rPr lang="en-US" sz="1050" dirty="0" err="1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 pins</a:t>
            </a:r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Servos and center it.</a:t>
            </a:r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</a:t>
            </a:r>
            <a:r>
              <a:rPr lang="en-US" sz="1050" dirty="0" err="1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</a:t>
            </a: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connected ? spawn </a:t>
            </a:r>
            <a:r>
              <a:rPr lang="en-US" sz="1050" dirty="0" err="1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CommTask</a:t>
            </a: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skip</a:t>
            </a:r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Wiggle R-servos to notify setup is complete</a:t>
            </a:r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flight control loop 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0723"/>
            <a:ext cx="822960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>
                <a:solidFill>
                  <a:srgbClr val="ECEFF1"/>
                </a:solidFill>
                <a:latin typeface="Arial"/>
              </a:rPr>
              <a:t>From Raw Sensor to Servo Command </a:t>
            </a:r>
            <a:r>
              <a:rPr lang="en-US" sz="2200" b="1" i="0" dirty="0">
                <a:solidFill>
                  <a:srgbClr val="ECEFF1"/>
                </a:solidFill>
                <a:latin typeface="Arial"/>
              </a:rPr>
              <a:t>-</a:t>
            </a:r>
            <a:r>
              <a:rPr sz="2200" b="1" i="0" dirty="0">
                <a:solidFill>
                  <a:srgbClr val="ECEFF1"/>
                </a:solidFill>
                <a:latin typeface="Arial"/>
              </a:rPr>
              <a:t> The Data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50000"/>
            <a:ext cx="4106240" cy="843000"/>
          </a:xfrm>
          <a:prstGeom prst="roundRect">
            <a:avLst>
              <a:gd name="adj" fmla="val 6000"/>
            </a:avLst>
          </a:prstGeom>
          <a:solidFill>
            <a:srgbClr val="13161E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880000"/>
            <a:ext cx="55000" cy="783000"/>
          </a:xfrm>
          <a:prstGeom prst="roundRect">
            <a:avLst>
              <a:gd name="adj" fmla="val 50000"/>
            </a:avLst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0760" y="850000"/>
            <a:ext cx="3791240" cy="8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CEFF1"/>
                </a:solidFill>
                <a:latin typeface="Arial"/>
              </a:rPr>
              <a:t>1 · Raw sensor read (I2C)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CFD8DC"/>
                </a:solidFill>
                <a:latin typeface="Arial"/>
              </a:rPr>
              <a:t>MPU6050 burst-read → AcX,AcY,AcZ, GyX,GyY,GyZ (raw)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72000" y="850000"/>
            <a:ext cx="4106240" cy="843000"/>
          </a:xfrm>
          <a:prstGeom prst="roundRect">
            <a:avLst>
              <a:gd name="adj" fmla="val 6000"/>
            </a:avLst>
          </a:prstGeom>
          <a:solidFill>
            <a:srgbClr val="13161E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672000" y="880000"/>
            <a:ext cx="55000" cy="783000"/>
          </a:xfrm>
          <a:prstGeom prst="roundRect">
            <a:avLst>
              <a:gd name="adj" fmla="val 50000"/>
            </a:avLst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57000" y="850000"/>
            <a:ext cx="3791240" cy="8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dirty="0">
                <a:solidFill>
                  <a:srgbClr val="ECEFF1"/>
                </a:solidFill>
                <a:latin typeface="Arial"/>
              </a:rPr>
              <a:t>2 · Convert to physical units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 dirty="0" err="1">
                <a:solidFill>
                  <a:srgbClr val="CFD8DC"/>
                </a:solidFill>
                <a:latin typeface="Arial"/>
              </a:rPr>
              <a:t>fgy</a:t>
            </a:r>
            <a:r>
              <a:rPr sz="950" b="0" i="0" dirty="0">
                <a:solidFill>
                  <a:srgbClr val="CFD8DC"/>
                </a:solidFill>
                <a:latin typeface="Arial"/>
              </a:rPr>
              <a:t> = (Gy − bias)/65.5 → °/s   ·   </a:t>
            </a:r>
            <a:r>
              <a:rPr sz="950" b="0" i="0" dirty="0" err="1">
                <a:solidFill>
                  <a:srgbClr val="CFD8DC"/>
                </a:solidFill>
                <a:latin typeface="Arial"/>
              </a:rPr>
              <a:t>accelPitch</a:t>
            </a:r>
            <a:r>
              <a:rPr sz="950" b="0" i="0" dirty="0">
                <a:solidFill>
                  <a:srgbClr val="CFD8DC"/>
                </a:solidFill>
                <a:latin typeface="Arial"/>
              </a:rPr>
              <a:t> via atan2 → 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72000" y="1823000"/>
            <a:ext cx="4106240" cy="843000"/>
          </a:xfrm>
          <a:prstGeom prst="roundRect">
            <a:avLst>
              <a:gd name="adj" fmla="val 6000"/>
            </a:avLst>
          </a:prstGeom>
          <a:solidFill>
            <a:srgbClr val="13161E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72000" y="1853000"/>
            <a:ext cx="55000" cy="783000"/>
          </a:xfrm>
          <a:prstGeom prst="roundRect">
            <a:avLst>
              <a:gd name="adj" fmla="val 50000"/>
            </a:avLst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57000" y="1823000"/>
            <a:ext cx="3791240" cy="8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dirty="0">
                <a:solidFill>
                  <a:srgbClr val="ECEFF1"/>
                </a:solidFill>
                <a:latin typeface="Arial"/>
              </a:rPr>
              <a:t>3 · np born — gyro integration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 dirty="0">
                <a:solidFill>
                  <a:srgbClr val="CFD8DC"/>
                </a:solidFill>
                <a:latin typeface="Arial"/>
              </a:rPr>
              <a:t>np = </a:t>
            </a:r>
            <a:r>
              <a:rPr sz="950" b="0" i="0" dirty="0" err="1">
                <a:solidFill>
                  <a:srgbClr val="CFD8DC"/>
                </a:solidFill>
                <a:latin typeface="Arial"/>
              </a:rPr>
              <a:t>sensorPitch</a:t>
            </a:r>
            <a:r>
              <a:rPr sz="950" b="0" i="0" dirty="0">
                <a:solidFill>
                  <a:srgbClr val="CFD8DC"/>
                </a:solidFill>
                <a:latin typeface="Arial"/>
              </a:rPr>
              <a:t>(old) + </a:t>
            </a:r>
            <a:r>
              <a:rPr sz="950" b="0" i="0" dirty="0" err="1">
                <a:solidFill>
                  <a:srgbClr val="CFD8DC"/>
                </a:solidFill>
                <a:latin typeface="Arial"/>
              </a:rPr>
              <a:t>fgy</a:t>
            </a:r>
            <a:r>
              <a:rPr sz="950" b="0" i="0" dirty="0">
                <a:solidFill>
                  <a:srgbClr val="CFD8DC"/>
                </a:solidFill>
                <a:latin typeface="Arial"/>
              </a:rPr>
              <a:t> × dt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823000"/>
            <a:ext cx="4106240" cy="843000"/>
          </a:xfrm>
          <a:prstGeom prst="roundRect">
            <a:avLst>
              <a:gd name="adj" fmla="val 6000"/>
            </a:avLst>
          </a:prstGeom>
          <a:solidFill>
            <a:srgbClr val="13161E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5760" y="1853000"/>
            <a:ext cx="55000" cy="783000"/>
          </a:xfrm>
          <a:prstGeom prst="roundRect">
            <a:avLst>
              <a:gd name="adj" fmla="val 50000"/>
            </a:avLst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0760" y="1823000"/>
            <a:ext cx="3791240" cy="8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dirty="0">
                <a:solidFill>
                  <a:srgbClr val="ECEFF1"/>
                </a:solidFill>
                <a:latin typeface="Arial"/>
              </a:rPr>
              <a:t>4 · np refined — complementary blend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 dirty="0">
                <a:solidFill>
                  <a:srgbClr val="CFD8DC"/>
                </a:solidFill>
                <a:latin typeface="Arial"/>
              </a:rPr>
              <a:t>np = np × 0.98 + </a:t>
            </a:r>
            <a:r>
              <a:rPr sz="950" b="0" i="0" dirty="0" err="1">
                <a:solidFill>
                  <a:srgbClr val="CFD8DC"/>
                </a:solidFill>
                <a:latin typeface="Arial"/>
              </a:rPr>
              <a:t>accelPitch</a:t>
            </a:r>
            <a:r>
              <a:rPr sz="950" b="0" i="0" dirty="0">
                <a:solidFill>
                  <a:srgbClr val="CFD8DC"/>
                </a:solidFill>
                <a:latin typeface="Arial"/>
              </a:rPr>
              <a:t> × 0.02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796000"/>
            <a:ext cx="4106240" cy="843000"/>
          </a:xfrm>
          <a:prstGeom prst="roundRect">
            <a:avLst>
              <a:gd name="adj" fmla="val 6000"/>
            </a:avLst>
          </a:prstGeom>
          <a:solidFill>
            <a:srgbClr val="13161E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65760" y="2826000"/>
            <a:ext cx="55000" cy="783000"/>
          </a:xfrm>
          <a:prstGeom prst="roundRect">
            <a:avLst>
              <a:gd name="adj" fmla="val 50000"/>
            </a:avLst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0760" y="2796000"/>
            <a:ext cx="3791240" cy="8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dirty="0">
                <a:solidFill>
                  <a:srgbClr val="ECEFF1"/>
                </a:solidFill>
                <a:latin typeface="Arial"/>
              </a:rPr>
              <a:t>5 · Saved to global — np dies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 dirty="0" err="1">
                <a:solidFill>
                  <a:srgbClr val="CFD8DC"/>
                </a:solidFill>
                <a:latin typeface="Arial"/>
              </a:rPr>
              <a:t>sensorPitch</a:t>
            </a:r>
            <a:r>
              <a:rPr sz="950" b="0" i="0" dirty="0">
                <a:solidFill>
                  <a:srgbClr val="CFD8DC"/>
                </a:solidFill>
                <a:latin typeface="Arial"/>
              </a:rPr>
              <a:t> = np   → persists to next 20 </a:t>
            </a:r>
            <a:r>
              <a:rPr sz="950" b="0" i="0" dirty="0" err="1">
                <a:solidFill>
                  <a:srgbClr val="CFD8DC"/>
                </a:solidFill>
                <a:latin typeface="Arial"/>
              </a:rPr>
              <a:t>ms</a:t>
            </a:r>
            <a:r>
              <a:rPr sz="950" b="0" i="0" dirty="0">
                <a:solidFill>
                  <a:srgbClr val="CFD8DC"/>
                </a:solidFill>
                <a:latin typeface="Arial"/>
              </a:rPr>
              <a:t> tick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72000" y="2796000"/>
            <a:ext cx="4106240" cy="843000"/>
          </a:xfrm>
          <a:prstGeom prst="roundRect">
            <a:avLst>
              <a:gd name="adj" fmla="val 6000"/>
            </a:avLst>
          </a:prstGeom>
          <a:solidFill>
            <a:srgbClr val="13161E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672000" y="2826000"/>
            <a:ext cx="55000" cy="783000"/>
          </a:xfrm>
          <a:prstGeom prst="roundRect">
            <a:avLst>
              <a:gd name="adj" fmla="val 5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57000" y="2796000"/>
            <a:ext cx="3791240" cy="8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CEFF1"/>
                </a:solidFill>
                <a:latin typeface="Arial"/>
              </a:rPr>
              <a:t>6 · PID error vs. fixed setpoint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CFD8DC"/>
                </a:solidFill>
                <a:latin typeface="Arial"/>
              </a:rPr>
              <a:t>error = referencePitch − sensorPitch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72000" y="3769000"/>
            <a:ext cx="4106240" cy="843000"/>
          </a:xfrm>
          <a:prstGeom prst="roundRect">
            <a:avLst>
              <a:gd name="adj" fmla="val 6000"/>
            </a:avLst>
          </a:prstGeom>
          <a:solidFill>
            <a:srgbClr val="13161E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672000" y="3799000"/>
            <a:ext cx="55000" cy="783000"/>
          </a:xfrm>
          <a:prstGeom prst="roundRect">
            <a:avLst>
              <a:gd name="adj" fmla="val 5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57000" y="3769000"/>
            <a:ext cx="3791240" cy="8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CEFF1"/>
                </a:solidFill>
                <a:latin typeface="Arial"/>
              </a:rPr>
              <a:t>7 · PID computes correction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CFD8DC"/>
                </a:solidFill>
                <a:latin typeface="Arial"/>
              </a:rPr>
              <a:t>pidOutput = Kp·error + Ki·∫error·dt + Kd·Δmeasurement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769000"/>
            <a:ext cx="4106240" cy="843000"/>
          </a:xfrm>
          <a:prstGeom prst="roundRect">
            <a:avLst>
              <a:gd name="adj" fmla="val 6000"/>
            </a:avLst>
          </a:prstGeom>
          <a:solidFill>
            <a:srgbClr val="13161E"/>
          </a:solidFill>
          <a:ln w="9525">
            <a:solidFill>
              <a:srgbClr val="2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3799000"/>
            <a:ext cx="55000" cy="783000"/>
          </a:xfrm>
          <a:prstGeom prst="roundRect">
            <a:avLst>
              <a:gd name="adj" fmla="val 5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0760" y="3769000"/>
            <a:ext cx="3791240" cy="8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CEFF1"/>
                </a:solidFill>
                <a:latin typeface="Arial"/>
              </a:rPr>
              <a:t>8 · Servo command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CFD8DC"/>
                </a:solidFill>
                <a:latin typeface="Arial"/>
              </a:rPr>
              <a:t>commandAngle = 90° + pidOutput → clamp 45°–135° → writeMicroseconds()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472000" y="1271500"/>
            <a:ext cx="200000" cy="0"/>
          </a:xfrm>
          <a:prstGeom prst="line">
            <a:avLst/>
          </a:prstGeom>
          <a:ln w="19050">
            <a:solidFill>
              <a:srgbClr val="546E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725120" y="1693000"/>
            <a:ext cx="0" cy="130000"/>
          </a:xfrm>
          <a:prstGeom prst="line">
            <a:avLst/>
          </a:prstGeom>
          <a:ln w="19050">
            <a:solidFill>
              <a:srgbClr val="546E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4472000" y="2244500"/>
            <a:ext cx="200000" cy="0"/>
          </a:xfrm>
          <a:prstGeom prst="line">
            <a:avLst/>
          </a:prstGeom>
          <a:ln w="19050">
            <a:solidFill>
              <a:srgbClr val="546E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418880" y="2666000"/>
            <a:ext cx="0" cy="130000"/>
          </a:xfrm>
          <a:prstGeom prst="line">
            <a:avLst/>
          </a:prstGeom>
          <a:ln w="19050">
            <a:solidFill>
              <a:srgbClr val="546E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472000" y="3217500"/>
            <a:ext cx="200000" cy="0"/>
          </a:xfrm>
          <a:prstGeom prst="line">
            <a:avLst/>
          </a:prstGeom>
          <a:ln w="19050">
            <a:solidFill>
              <a:srgbClr val="546E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25120" y="3639000"/>
            <a:ext cx="0" cy="130000"/>
          </a:xfrm>
          <a:prstGeom prst="line">
            <a:avLst/>
          </a:prstGeom>
          <a:ln w="19050">
            <a:solidFill>
              <a:srgbClr val="546E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4472000" y="4190500"/>
            <a:ext cx="200000" cy="0"/>
          </a:xfrm>
          <a:prstGeom prst="line">
            <a:avLst/>
          </a:prstGeom>
          <a:ln w="19050">
            <a:solidFill>
              <a:srgbClr val="546E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65760" y="4692000"/>
            <a:ext cx="84124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90A4AE"/>
                </a:solidFill>
                <a:latin typeface="Arial"/>
              </a:rPr>
              <a:t>Key insight:  np is a local, temporary variable — born from sensorPitch, refined each tick, then written back as sensorPitch. Only sensorPitch persists across the 20 ms cycle; np is recreated from scratch every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Filter Must Warm Up Before Flight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complementary filter blends </a:t>
            </a:r>
            <a:r>
              <a:rPr lang="en-US" sz="13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 gyro integration + 2% accelerometer angle</a:t>
            </a:r>
            <a:r>
              <a:rPr lang="en-US" sz="13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tick. Its angle estimate starts at 0° and converges toward the true attitude gradually.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568303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i="1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Fig: filter estimate converging from 0° to the true tilt(5 °) over ~200 iteration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955458" y="2676833"/>
            <a:ext cx="37313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900"/>
              </a:spcAft>
              <a:buSzPct val="100000"/>
            </a:pPr>
            <a:r>
              <a:rPr lang="en-US" sz="11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warm-up, the reference attitude would be captured while the estimate is still near zero - wrong PID setpoint for the entire flight</a:t>
            </a:r>
            <a:endParaRPr lang="en-US" sz="11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553193-FB19-3EFE-34E4-ACA6E13B2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756" y="1691640"/>
            <a:ext cx="3672348" cy="28277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Cores, Two Loops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3990832" y="2941140"/>
            <a:ext cx="5046733" cy="199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1(flight loop): sensor → PID → servos, every 20 ms, always running from boot. Needs no WiFi, no GCS.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0(communication task): spawned only if WiFi connects; accepts the GCS client, parses commands, streams telemetry.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data crosses cores only through two guards: imuLock (spinlock, angle reads) and configMutex (parameter writes).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a slow WiFi retransmit or TCP timeout can never delay a servo command — control and communication are fully isolated.</a:t>
            </a:r>
            <a:endParaRPr lang="en-US" sz="120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1D18CE3-A2F4-9F06-4EE2-14C1DB34B1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1353" y="507140"/>
            <a:ext cx="3559126" cy="44273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B58C947-3EAE-E664-C925-7C19921F40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19" y="969881"/>
            <a:ext cx="5105646" cy="18144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607" y="59788"/>
            <a:ext cx="30455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Control Loop</a:t>
            </a:r>
            <a:endParaRPr lang="en-US" sz="2400" dirty="0"/>
          </a:p>
        </p:txBody>
      </p:sp>
      <p:pic>
        <p:nvPicPr>
          <p:cNvPr id="4" name="Image 0" descr="figs/flightloop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4" y="1431212"/>
            <a:ext cx="2328203" cy="2699415"/>
          </a:xfrm>
          <a:prstGeom prst="rect">
            <a:avLst/>
          </a:prstGeom>
        </p:spPr>
      </p:pic>
      <p:pic>
        <p:nvPicPr>
          <p:cNvPr id="6" name="Image 1" descr="figs/flightloop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2948" y="1083212"/>
            <a:ext cx="2672861" cy="354023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7249" y="429816"/>
            <a:ext cx="3896751" cy="4585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en-US" sz="1000" b="1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gate </a:t>
            </a:r>
            <a:r>
              <a:rPr lang="en-US" sz="10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checks if 20ms have passed since the last tick; if not, returns immediately and tries again next cycle</a:t>
            </a:r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sz="1000" b="1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I2C read </a:t>
            </a:r>
            <a:r>
              <a:rPr lang="en-US" sz="10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bytes from MPU6050 in one transaction - gives raw accel XYZ + gyro XYZ</a:t>
            </a:r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r>
              <a:rPr lang="en-US" sz="1000" b="1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Subtract gyro bias offsets</a:t>
            </a:r>
            <a:r>
              <a:rPr lang="en-US" sz="10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convert raw counts to °/s and g-units for both sensors</a:t>
            </a:r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r>
              <a:rPr lang="en-US" sz="1000" b="1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 low-pass </a:t>
            </a:r>
            <a:r>
              <a:rPr lang="en-US" sz="10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to smooth accel and gyro values independently, reducing noise</a:t>
            </a:r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r>
              <a:rPr lang="en-US" sz="1000" b="1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 filter </a:t>
            </a:r>
            <a:r>
              <a:rPr lang="en-US" sz="10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blends 98% gyro integration + 2% accel angle → writes </a:t>
            </a:r>
            <a:r>
              <a:rPr lang="en-US" sz="1000" dirty="0" err="1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sensorPitch</a:t>
            </a:r>
            <a:r>
              <a:rPr lang="en-US" sz="10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/Roll/Yaw to shared memory under </a:t>
            </a:r>
            <a:r>
              <a:rPr lang="en-US" sz="1000" dirty="0" err="1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imuLock</a:t>
            </a:r>
            <a:endParaRPr lang="en-US" sz="1000" dirty="0">
              <a:solidFill>
                <a:srgbClr val="CFD8D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</a:t>
            </a:r>
            <a:r>
              <a:rPr lang="en-US" sz="1000" b="1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all 4 RC </a:t>
            </a:r>
            <a:r>
              <a:rPr lang="en-US" sz="10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 - check for signal staleness (&gt;30ms = 0), map pulse width to 0–100%, snap ±3% deadband to 50%, cache for Core 0</a:t>
            </a:r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</a:t>
            </a:r>
            <a:r>
              <a:rPr lang="en-US" sz="1000" b="1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CH4 </a:t>
            </a:r>
            <a:r>
              <a:rPr lang="en-US" sz="10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determine </a:t>
            </a:r>
            <a:r>
              <a:rPr lang="en-US" sz="1000" b="1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autopilot mode</a:t>
            </a:r>
            <a:r>
              <a:rPr lang="en-US" sz="10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on transition into autopilot, </a:t>
            </a:r>
            <a:r>
              <a:rPr lang="en-US" sz="1000" i="1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both PIDs using </a:t>
            </a:r>
            <a:r>
              <a:rPr lang="en-US" sz="1000" i="1" dirty="0" err="1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bumpless</a:t>
            </a:r>
            <a:r>
              <a:rPr lang="en-US" sz="1000" i="1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transfer</a:t>
            </a:r>
            <a:r>
              <a:rPr lang="en-US" sz="10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(no servo jump)</a:t>
            </a:r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If both </a:t>
            </a:r>
            <a:r>
              <a:rPr lang="en-US" sz="950" b="1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sticks centered </a:t>
            </a:r>
            <a:r>
              <a:rPr lang="en-US" sz="10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(+/-5%) → run full PID on pitch and roll; if one stick moved → that axis goes manual, other axis stays on PID</a:t>
            </a:r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</a:t>
            </a:r>
            <a:r>
              <a:rPr lang="en-US" sz="1000" b="1" dirty="0" err="1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computePID</a:t>
            </a:r>
            <a:r>
              <a:rPr lang="en-US" sz="1000" b="1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() </a:t>
            </a:r>
            <a:r>
              <a:rPr lang="en-US" sz="10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error, deadband zero, integral clamp, derivative-on-measurement → produces correction output</a:t>
            </a:r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</a:t>
            </a:r>
            <a:r>
              <a:rPr lang="en-US" sz="1000" b="1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Clamp final angle </a:t>
            </a:r>
            <a:r>
              <a:rPr lang="en-US" sz="10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45°–135°, write servo only if change exceeds 1° deadband (prevents buzzing)</a:t>
            </a:r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Record loop timestamp, yield CPU, </a:t>
            </a:r>
            <a:r>
              <a:rPr lang="en-US" sz="1000" b="1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r>
              <a:rPr lang="en-US" sz="10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20ms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Mode Transitions - PID Reset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Engaging autopilot with stale PID state causes a violent servo “kick”: the integral holds old history and the derivative sees a fake spike. </a:t>
            </a:r>
            <a:r>
              <a:rPr lang="en-US" sz="1250" b="1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resetPID()</a:t>
            </a:r>
            <a:r>
              <a:rPr lang="en-US" sz="12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clears the integral, syncs the previous measurement to the current angle, and resets dt - so the servo starts smoothly from where it is.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11480" y="3904635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reset: ~30° servo spike on engage.  With reset: smooth handover.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355080" y="1755648"/>
            <a:ext cx="2377440" cy="841248"/>
          </a:xfrm>
          <a:prstGeom prst="roundRect">
            <a:avLst>
              <a:gd name="adj" fmla="val 6522"/>
            </a:avLst>
          </a:prstGeom>
          <a:solidFill>
            <a:srgbClr val="1C212E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20391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Autopilot engages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92240" y="23134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both axes → no jolt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355080" y="2807208"/>
            <a:ext cx="2377440" cy="841248"/>
          </a:xfrm>
          <a:prstGeom prst="roundRect">
            <a:avLst>
              <a:gd name="adj" fmla="val 6522"/>
            </a:avLst>
          </a:prstGeom>
          <a:solidFill>
            <a:srgbClr val="1C212E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2999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Pilot moves stick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92240" y="32735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that axis only → pilot has full control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355080" y="3886200"/>
            <a:ext cx="2377440" cy="841248"/>
          </a:xfrm>
          <a:prstGeom prst="roundRect">
            <a:avLst>
              <a:gd name="adj" fmla="val 6522"/>
            </a:avLst>
          </a:prstGeom>
          <a:solidFill>
            <a:srgbClr val="1C212E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0" y="39593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Pilot releases stick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92240" y="42336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again → PID resumes from current attitude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478E0CC-FFD4-18E5-DDD3-D36E754AF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866" y="2313432"/>
            <a:ext cx="5980457" cy="14886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2342" y="101662"/>
            <a:ext cx="3421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Task</a:t>
            </a:r>
            <a:endParaRPr lang="en-US" sz="2600" dirty="0"/>
          </a:p>
        </p:txBody>
      </p:sp>
      <p:pic>
        <p:nvPicPr>
          <p:cNvPr id="4" name="Image 0" descr="figs/commtask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88" y="1021080"/>
            <a:ext cx="3096152" cy="3516068"/>
          </a:xfrm>
          <a:prstGeom prst="rect">
            <a:avLst/>
          </a:prstGeom>
        </p:spPr>
      </p:pic>
      <p:pic>
        <p:nvPicPr>
          <p:cNvPr id="6" name="Image 1" descr="figs/commtask_2.png"/>
          <p:cNvPicPr>
            <a:picLocks noChangeAspect="1"/>
          </p:cNvPicPr>
          <p:nvPr/>
        </p:nvPicPr>
        <p:blipFill>
          <a:blip r:embed="rId4"/>
          <a:srcRect b="17666"/>
          <a:stretch>
            <a:fillRect/>
          </a:stretch>
        </p:blipFill>
        <p:spPr>
          <a:xfrm>
            <a:off x="3356618" y="1233778"/>
            <a:ext cx="2941283" cy="30906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34328" y="1511046"/>
            <a:ext cx="2423160" cy="2426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for client to connect</a:t>
            </a:r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session</a:t>
            </a:r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client connected?</a:t>
            </a:r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available?</a:t>
            </a:r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mutex, read cmd.</a:t>
            </a:r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</a:t>
            </a:r>
            <a:r>
              <a:rPr lang="en-US" sz="1050" dirty="0" err="1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</a:t>
            </a: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Release mutex</a:t>
            </a:r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PWM stream flag? stream PWM : skip</a:t>
            </a:r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Cube stream flag? stream IMU : skip</a:t>
            </a:r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↔ ESP32 Command Protocol</a:t>
            </a:r>
            <a:endParaRPr lang="en-US" sz="2600" dirty="0"/>
          </a:p>
        </p:txBody>
      </p:sp>
      <p:pic>
        <p:nvPicPr>
          <p:cNvPr id="4" name="Image 0" descr="figs/cmdref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204" y="836234"/>
            <a:ext cx="4555636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80760" y="1906967"/>
            <a:ext cx="2240280" cy="1964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ASCII + newline: human-readable and trivially debuggable</a:t>
            </a:r>
            <a:endParaRPr lang="en-US" sz="10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interaction patterns: request/response (filters, PID), push streaming (RC, HUD), and timed polling (diagnostics)</a:t>
            </a:r>
            <a:endParaRPr lang="en-US" sz="10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persists to EEPROM (4 s timeout); calibrate replies twice (OK, then CAL_DONE)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FlightGCS</a:t>
            </a:r>
            <a:r>
              <a:rPr lang="en-US" sz="2600" b="1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</a:t>
            </a:r>
            <a:r>
              <a:rPr lang="en-US" sz="26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9889"/>
            <a:ext cx="2679192" cy="1828800"/>
          </a:xfrm>
          <a:prstGeom prst="roundRect">
            <a:avLst>
              <a:gd name="adj" fmla="val 3000"/>
            </a:avLst>
          </a:prstGeom>
          <a:solidFill>
            <a:srgbClr val="151923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339154"/>
            <a:ext cx="2350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344" y="833727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Filters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28416" y="881954"/>
            <a:ext cx="2679192" cy="1828800"/>
          </a:xfrm>
          <a:prstGeom prst="roundRect">
            <a:avLst>
              <a:gd name="adj" fmla="val 3000"/>
            </a:avLst>
          </a:prstGeom>
          <a:solidFill>
            <a:srgbClr val="151923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92424" y="8393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RC Input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90488" y="881954"/>
            <a:ext cx="2679192" cy="1828800"/>
          </a:xfrm>
          <a:prstGeom prst="roundRect">
            <a:avLst>
              <a:gd name="adj" fmla="val 3000"/>
            </a:avLst>
          </a:prstGeom>
          <a:solidFill>
            <a:srgbClr val="151923"/>
          </a:solidFill>
          <a:ln w="12700">
            <a:solidFill>
              <a:srgbClr val="2A30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08776" y="879419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🛩 HUD Tab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" y="2847914"/>
            <a:ext cx="2679192" cy="1828800"/>
          </a:xfrm>
          <a:prstGeom prst="roundRect">
            <a:avLst>
              <a:gd name="adj" fmla="val 3000"/>
            </a:avLst>
          </a:prstGeom>
          <a:solidFill>
            <a:srgbClr val="151923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28416" y="2847914"/>
            <a:ext cx="2679192" cy="1828800"/>
          </a:xfrm>
          <a:prstGeom prst="roundRect">
            <a:avLst>
              <a:gd name="adj" fmla="val 3000"/>
            </a:avLst>
          </a:prstGeom>
          <a:solidFill>
            <a:srgbClr val="151923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28416" y="279305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 Roll PID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90488" y="2847914"/>
            <a:ext cx="2679192" cy="1828800"/>
          </a:xfrm>
          <a:prstGeom prst="roundRect">
            <a:avLst>
              <a:gd name="adj" fmla="val 3000"/>
            </a:avLst>
          </a:prstGeom>
          <a:solidFill>
            <a:srgbClr val="151923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08776" y="2812223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Diagnostics</a:t>
            </a:r>
            <a:endParaRPr lang="en-US" sz="125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212B902-A124-B4CF-396E-6E6D1E5EC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72" y="1110628"/>
            <a:ext cx="2142647" cy="158854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5BA7094-0C48-6390-90B7-E9DEA7211F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584" y="1147130"/>
            <a:ext cx="2240280" cy="153668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4776E01-5A44-5EBA-68B4-B5888F5139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38" y="1147130"/>
            <a:ext cx="1921678" cy="1478083"/>
          </a:xfrm>
          <a:prstGeom prst="rect">
            <a:avLst/>
          </a:prstGeom>
        </p:spPr>
      </p:pic>
      <p:sp>
        <p:nvSpPr>
          <p:cNvPr id="43" name="Text 15">
            <a:extLst>
              <a:ext uri="{FF2B5EF4-FFF2-40B4-BE49-F238E27FC236}">
                <a16:creationId xmlns:a16="http://schemas.microsoft.com/office/drawing/2014/main" id="{0E148E2D-6894-9C83-4B5D-E6E463BC571A}"/>
              </a:ext>
            </a:extLst>
          </p:cNvPr>
          <p:cNvSpPr/>
          <p:nvPr/>
        </p:nvSpPr>
        <p:spPr>
          <a:xfrm>
            <a:off x="466344" y="2801893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🛩 HUD Screen</a:t>
            </a:r>
            <a:endParaRPr lang="en-US" sz="125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ED8FEAD2-7417-918F-E514-5E62876ECA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560" y="3121933"/>
            <a:ext cx="2059559" cy="153649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0C380787-8D39-EB1E-8F44-070FB7B914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8801" y="3043678"/>
            <a:ext cx="2158421" cy="157045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FFEEBFAD-5558-85A8-2145-C0DE5BBA56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3107124"/>
            <a:ext cx="1944576" cy="15330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0730" y="99822"/>
            <a:ext cx="5139813" cy="82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FlightGCS — Connection &amp; Threading Model</a:t>
            </a:r>
            <a:endParaRPr lang="en-US" sz="2600" dirty="0"/>
          </a:p>
        </p:txBody>
      </p:sp>
      <p:pic>
        <p:nvPicPr>
          <p:cNvPr id="4" name="Image 0" descr="figs/gcsseq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7" y="99822"/>
            <a:ext cx="3271718" cy="49438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20730" y="1247714"/>
            <a:ext cx="5344668" cy="310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Thread — runs the UI, handles button clicks, and sends/receives one-off commands (read/apply/save settings)</a:t>
            </a:r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Thread — finds the ESP32 on the network (</a:t>
            </a:r>
            <a:r>
              <a:rPr lang="en-US" sz="1150" dirty="0" err="1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mDNS</a:t>
            </a:r>
            <a:r>
              <a:rPr lang="en-US" sz="11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subnet scan) when "Auto Connect" is clicked</a:t>
            </a:r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Worker (PWM) — continuously reads RC channel data while the RC Input tab is open, updates the bar graphs</a:t>
            </a:r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 Thread — continuously reads IMU orientation data while the HUD is open, updates the attitude display</a:t>
            </a:r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 Worker — periodically checks device status/diagnostics in the background</a:t>
            </a:r>
          </a:p>
          <a:p>
            <a:pPr>
              <a:spcAft>
                <a:spcPts val="900"/>
              </a:spcAft>
              <a:buSzPct val="100000"/>
            </a:pPr>
            <a:r>
              <a:rPr lang="en-US" sz="11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thread stays responsive for UI clicks, while each stream/poll runs on its own thread so nothing blocks the interface - and all of them talk to the same ESP32 over one shared socket connection.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GCSHelper — Bench Companion Tool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89617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Python desktop app for the wired side of the workflow — everything that happens before the aircraft leaves the bench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Monitor: live boot logs at 115200 baud, plus access to the 10 s boot menu for storing WiFi credentials in EEPROM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tab: upload new .bin firmware images to the ESP32 via esptool — no PlatformIO install needed by the end user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functional, still under active development — UI polish and guided flashing flow in progress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955577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151923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2092" y="2919001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Monitor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2" y="2955577"/>
            <a:ext cx="4069078" cy="1691640"/>
          </a:xfrm>
          <a:prstGeom prst="roundRect">
            <a:avLst>
              <a:gd name="adj" fmla="val 3243"/>
            </a:avLst>
          </a:prstGeom>
          <a:solidFill>
            <a:srgbClr val="151923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919001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Firmware</a:t>
            </a:r>
            <a:endParaRPr lang="en-US" sz="13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E7AACFA-CEBA-CBAB-1FAA-03722DF77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878" y="3168131"/>
            <a:ext cx="2221473" cy="143336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604518B-DB13-BD30-F5F5-DE976AA6D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815" y="3168131"/>
            <a:ext cx="2083977" cy="143336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89207" y="1983657"/>
            <a:ext cx="3541089" cy="818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038BC90-B0E6-491D-B91E-1F9E6B130B93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2050</TotalTime>
  <Words>2557</Words>
  <Application>Microsoft Office PowerPoint</Application>
  <PresentationFormat>On-screen Show (16:9)</PresentationFormat>
  <Paragraphs>271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ESP32-Based Real-Time Flight Stabilization System</dc:title>
  <dc:subject>PptxGenJS Presentation</dc:subject>
  <dc:creator>Arjun</dc:creator>
  <cp:lastModifiedBy>achu arjun</cp:lastModifiedBy>
  <cp:revision>27</cp:revision>
  <dcterms:created xsi:type="dcterms:W3CDTF">2026-06-12T11:57:53Z</dcterms:created>
  <dcterms:modified xsi:type="dcterms:W3CDTF">2026-07-07T12:44:34Z</dcterms:modified>
</cp:coreProperties>
</file>